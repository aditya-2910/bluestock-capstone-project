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dc4239a0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dc4239a0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dc4239a0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dc4239a0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dc4239a0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dc4239a0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dc4239a0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dc4239a0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dc4239a0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dc4239a0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dc4239a0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dc4239a0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dc4239a0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dc4239a0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dc4239a0b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dc4239a0b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dc4239a0b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dc4239a0b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dc4239a0b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dc4239a0b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edc4239a0b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edc4239a0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456000" y="1345950"/>
            <a:ext cx="8232000" cy="1664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t>Bluestock Mutual Fund Analytics Capstone</a:t>
            </a:r>
            <a:endParaRPr/>
          </a:p>
          <a:p>
            <a:pPr indent="0" lvl="0" marL="0" rtl="0" algn="l">
              <a:spcBef>
                <a:spcPts val="1200"/>
              </a:spcBef>
              <a:spcAft>
                <a:spcPts val="0"/>
              </a:spcAft>
              <a:buNone/>
            </a:pPr>
            <a:r>
              <a:t/>
            </a:r>
            <a:endParaRPr/>
          </a:p>
        </p:txBody>
      </p:sp>
      <p:sp>
        <p:nvSpPr>
          <p:cNvPr id="87" name="Google Shape;87;p13"/>
          <p:cNvSpPr txBox="1"/>
          <p:nvPr>
            <p:ph idx="1" type="subTitle"/>
          </p:nvPr>
        </p:nvSpPr>
        <p:spPr>
          <a:xfrm>
            <a:off x="456000" y="3204075"/>
            <a:ext cx="82320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Submitted By:</a:t>
            </a:r>
            <a:endParaRPr/>
          </a:p>
          <a:p>
            <a:pPr indent="0" lvl="0" marL="0" rtl="0" algn="l">
              <a:spcBef>
                <a:spcPts val="0"/>
              </a:spcBef>
              <a:spcAft>
                <a:spcPts val="0"/>
              </a:spcAft>
              <a:buNone/>
            </a:pPr>
            <a:r>
              <a:rPr lang="en-GB"/>
              <a:t>Srinivas Aditya 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M.Tech (Research Assistant)</a:t>
            </a:r>
            <a:endParaRPr/>
          </a:p>
          <a:p>
            <a:pPr indent="0" lvl="0" marL="0" rtl="0" algn="l">
              <a:spcBef>
                <a:spcPts val="0"/>
              </a:spcBef>
              <a:spcAft>
                <a:spcPts val="0"/>
              </a:spcAft>
              <a:buNone/>
            </a:pPr>
            <a:r>
              <a:rPr lang="en-GB"/>
              <a:t>Department of Artificial Intelligence</a:t>
            </a:r>
            <a:endParaRPr/>
          </a:p>
          <a:p>
            <a:pPr indent="0" lvl="0" marL="0" rtl="0" algn="l">
              <a:spcBef>
                <a:spcPts val="0"/>
              </a:spcBef>
              <a:spcAft>
                <a:spcPts val="0"/>
              </a:spcAft>
              <a:buNone/>
            </a:pPr>
            <a:r>
              <a:rPr lang="en-GB"/>
              <a:t>Indian Institute of Technology Hyderabad</a:t>
            </a:r>
            <a:endParaRPr/>
          </a:p>
        </p:txBody>
      </p:sp>
      <p:pic>
        <p:nvPicPr>
          <p:cNvPr id="88" name="Google Shape;88;p13"/>
          <p:cNvPicPr preferRelativeResize="0"/>
          <p:nvPr/>
        </p:nvPicPr>
        <p:blipFill>
          <a:blip r:embed="rId3">
            <a:alphaModFix/>
          </a:blip>
          <a:stretch>
            <a:fillRect/>
          </a:stretch>
        </p:blipFill>
        <p:spPr>
          <a:xfrm>
            <a:off x="0" y="0"/>
            <a:ext cx="883300" cy="883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7650" y="6258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PROBLEM STATEMENT &amp; OBJECTIVES </a:t>
            </a:r>
            <a:endParaRPr/>
          </a:p>
        </p:txBody>
      </p:sp>
      <p:sp>
        <p:nvSpPr>
          <p:cNvPr id="94" name="Google Shape;94;p14"/>
          <p:cNvSpPr txBox="1"/>
          <p:nvPr>
            <p:ph idx="1" type="body"/>
          </p:nvPr>
        </p:nvSpPr>
        <p:spPr>
          <a:xfrm>
            <a:off x="799900" y="1308175"/>
            <a:ext cx="7688700" cy="38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Problem Statement :</a:t>
            </a:r>
            <a:r>
              <a:rPr lang="en-GB"/>
              <a:t> The mutual fund industry generates large volumes of data related to fund performance, investor transactions, portfolio holdings, and market benchmarks. Extracting meaningful insights from this data requires structured analytics and visualization frameworks.</a:t>
            </a:r>
            <a:endParaRPr/>
          </a:p>
          <a:p>
            <a:pPr indent="0" lvl="0" marL="0" rtl="0" algn="l">
              <a:spcBef>
                <a:spcPts val="1200"/>
              </a:spcBef>
              <a:spcAft>
                <a:spcPts val="0"/>
              </a:spcAft>
              <a:buNone/>
            </a:pPr>
            <a:r>
              <a:rPr b="1" lang="en-GB"/>
              <a:t>Project Objectives</a:t>
            </a:r>
            <a:endParaRPr b="1"/>
          </a:p>
          <a:p>
            <a:pPr indent="-311150" lvl="0" marL="457200" rtl="0" algn="l">
              <a:spcBef>
                <a:spcPts val="1200"/>
              </a:spcBef>
              <a:spcAft>
                <a:spcPts val="0"/>
              </a:spcAft>
              <a:buSzPts val="1300"/>
              <a:buChar char="●"/>
            </a:pPr>
            <a:r>
              <a:rPr lang="en-GB"/>
              <a:t>Build an automated ETL pipeline</a:t>
            </a:r>
            <a:endParaRPr/>
          </a:p>
          <a:p>
            <a:pPr indent="-311150" lvl="0" marL="457200" rtl="0" algn="l">
              <a:spcBef>
                <a:spcPts val="0"/>
              </a:spcBef>
              <a:spcAft>
                <a:spcPts val="0"/>
              </a:spcAft>
              <a:buSzPts val="1300"/>
              <a:buChar char="●"/>
            </a:pPr>
            <a:r>
              <a:rPr lang="en-GB"/>
              <a:t>Design an analytical database</a:t>
            </a:r>
            <a:endParaRPr/>
          </a:p>
          <a:p>
            <a:pPr indent="-311150" lvl="0" marL="457200" rtl="0" algn="l">
              <a:spcBef>
                <a:spcPts val="0"/>
              </a:spcBef>
              <a:spcAft>
                <a:spcPts val="0"/>
              </a:spcAft>
              <a:buSzPts val="1300"/>
              <a:buChar char="●"/>
            </a:pPr>
            <a:r>
              <a:rPr lang="en-GB"/>
              <a:t>Perform exploratory data analysis</a:t>
            </a:r>
            <a:endParaRPr/>
          </a:p>
          <a:p>
            <a:pPr indent="-311150" lvl="0" marL="457200" rtl="0" algn="l">
              <a:spcBef>
                <a:spcPts val="0"/>
              </a:spcBef>
              <a:spcAft>
                <a:spcPts val="0"/>
              </a:spcAft>
              <a:buSzPts val="1300"/>
              <a:buChar char="●"/>
            </a:pPr>
            <a:r>
              <a:rPr lang="en-GB"/>
              <a:t>Evaluate fund performance using financial metrics</a:t>
            </a:r>
            <a:endParaRPr/>
          </a:p>
          <a:p>
            <a:pPr indent="-311150" lvl="0" marL="457200" rtl="0" algn="l">
              <a:spcBef>
                <a:spcPts val="0"/>
              </a:spcBef>
              <a:spcAft>
                <a:spcPts val="0"/>
              </a:spcAft>
              <a:buSzPts val="1300"/>
              <a:buChar char="●"/>
            </a:pPr>
            <a:r>
              <a:rPr lang="en-GB"/>
              <a:t>Develop an interactive Power BI dashboard</a:t>
            </a:r>
            <a:endParaRPr/>
          </a:p>
          <a:p>
            <a:pPr indent="-311150" lvl="0" marL="457200" rtl="0" algn="l">
              <a:spcBef>
                <a:spcPts val="0"/>
              </a:spcBef>
              <a:spcAft>
                <a:spcPts val="0"/>
              </a:spcAft>
              <a:buSzPts val="1300"/>
              <a:buChar char="●"/>
            </a:pPr>
            <a:r>
              <a:rPr lang="en-GB"/>
              <a:t>Generate actionable business insights</a:t>
            </a:r>
            <a:endParaRPr/>
          </a:p>
        </p:txBody>
      </p:sp>
      <p:sp>
        <p:nvSpPr>
          <p:cNvPr id="95" name="Google Shape;95;p14"/>
          <p:cNvSpPr/>
          <p:nvPr/>
        </p:nvSpPr>
        <p:spPr>
          <a:xfrm>
            <a:off x="6191000" y="2226500"/>
            <a:ext cx="1092000" cy="41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Raw Data</a:t>
            </a:r>
            <a:endParaRPr>
              <a:latin typeface="Lato"/>
              <a:ea typeface="Lato"/>
              <a:cs typeface="Lato"/>
              <a:sym typeface="Lato"/>
            </a:endParaRPr>
          </a:p>
        </p:txBody>
      </p:sp>
      <p:sp>
        <p:nvSpPr>
          <p:cNvPr id="96" name="Google Shape;96;p14"/>
          <p:cNvSpPr/>
          <p:nvPr/>
        </p:nvSpPr>
        <p:spPr>
          <a:xfrm>
            <a:off x="6191000" y="2781975"/>
            <a:ext cx="1092000" cy="41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ETL</a:t>
            </a:r>
            <a:endParaRPr>
              <a:latin typeface="Lato"/>
              <a:ea typeface="Lato"/>
              <a:cs typeface="Lato"/>
              <a:sym typeface="Lato"/>
            </a:endParaRPr>
          </a:p>
        </p:txBody>
      </p:sp>
      <p:sp>
        <p:nvSpPr>
          <p:cNvPr id="97" name="Google Shape;97;p14"/>
          <p:cNvSpPr/>
          <p:nvPr/>
        </p:nvSpPr>
        <p:spPr>
          <a:xfrm>
            <a:off x="6191000" y="3383400"/>
            <a:ext cx="1092000" cy="41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Analytics</a:t>
            </a:r>
            <a:endParaRPr>
              <a:latin typeface="Lato"/>
              <a:ea typeface="Lato"/>
              <a:cs typeface="Lato"/>
              <a:sym typeface="Lato"/>
            </a:endParaRPr>
          </a:p>
        </p:txBody>
      </p:sp>
      <p:sp>
        <p:nvSpPr>
          <p:cNvPr id="98" name="Google Shape;98;p14"/>
          <p:cNvSpPr/>
          <p:nvPr/>
        </p:nvSpPr>
        <p:spPr>
          <a:xfrm>
            <a:off x="6191000" y="3951125"/>
            <a:ext cx="1092000" cy="41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Dashboard</a:t>
            </a:r>
            <a:endParaRPr>
              <a:latin typeface="Lato"/>
              <a:ea typeface="Lato"/>
              <a:cs typeface="Lato"/>
              <a:sym typeface="Lato"/>
            </a:endParaRPr>
          </a:p>
        </p:txBody>
      </p:sp>
      <p:sp>
        <p:nvSpPr>
          <p:cNvPr id="99" name="Google Shape;99;p14"/>
          <p:cNvSpPr/>
          <p:nvPr/>
        </p:nvSpPr>
        <p:spPr>
          <a:xfrm>
            <a:off x="6191000" y="4518850"/>
            <a:ext cx="1092000" cy="41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Insights</a:t>
            </a:r>
            <a:endParaRPr>
              <a:latin typeface="Lato"/>
              <a:ea typeface="Lato"/>
              <a:cs typeface="Lato"/>
              <a:sym typeface="Lato"/>
            </a:endParaRPr>
          </a:p>
        </p:txBody>
      </p:sp>
      <p:cxnSp>
        <p:nvCxnSpPr>
          <p:cNvPr id="100" name="Google Shape;100;p14"/>
          <p:cNvCxnSpPr>
            <a:stCxn id="95" idx="2"/>
            <a:endCxn id="96" idx="0"/>
          </p:cNvCxnSpPr>
          <p:nvPr/>
        </p:nvCxnSpPr>
        <p:spPr>
          <a:xfrm>
            <a:off x="6737000" y="2637500"/>
            <a:ext cx="0" cy="144600"/>
          </a:xfrm>
          <a:prstGeom prst="straightConnector1">
            <a:avLst/>
          </a:prstGeom>
          <a:noFill/>
          <a:ln cap="flat" cmpd="sng" w="9525">
            <a:solidFill>
              <a:schemeClr val="dk2"/>
            </a:solidFill>
            <a:prstDash val="solid"/>
            <a:round/>
            <a:headEnd len="med" w="med" type="none"/>
            <a:tailEnd len="med" w="med" type="triangle"/>
          </a:ln>
        </p:spPr>
      </p:cxnSp>
      <p:cxnSp>
        <p:nvCxnSpPr>
          <p:cNvPr id="101" name="Google Shape;101;p14"/>
          <p:cNvCxnSpPr>
            <a:stCxn id="96" idx="2"/>
            <a:endCxn id="97" idx="0"/>
          </p:cNvCxnSpPr>
          <p:nvPr/>
        </p:nvCxnSpPr>
        <p:spPr>
          <a:xfrm>
            <a:off x="6737000" y="3192975"/>
            <a:ext cx="0" cy="190500"/>
          </a:xfrm>
          <a:prstGeom prst="straightConnector1">
            <a:avLst/>
          </a:prstGeom>
          <a:noFill/>
          <a:ln cap="flat" cmpd="sng" w="9525">
            <a:solidFill>
              <a:schemeClr val="dk2"/>
            </a:solidFill>
            <a:prstDash val="solid"/>
            <a:round/>
            <a:headEnd len="med" w="med" type="none"/>
            <a:tailEnd len="med" w="med" type="triangle"/>
          </a:ln>
        </p:spPr>
      </p:cxnSp>
      <p:cxnSp>
        <p:nvCxnSpPr>
          <p:cNvPr id="102" name="Google Shape;102;p14"/>
          <p:cNvCxnSpPr>
            <a:stCxn id="97" idx="2"/>
            <a:endCxn id="98" idx="0"/>
          </p:cNvCxnSpPr>
          <p:nvPr/>
        </p:nvCxnSpPr>
        <p:spPr>
          <a:xfrm>
            <a:off x="6737000" y="3794400"/>
            <a:ext cx="0" cy="156600"/>
          </a:xfrm>
          <a:prstGeom prst="straightConnector1">
            <a:avLst/>
          </a:prstGeom>
          <a:noFill/>
          <a:ln cap="flat" cmpd="sng" w="9525">
            <a:solidFill>
              <a:schemeClr val="dk2"/>
            </a:solidFill>
            <a:prstDash val="solid"/>
            <a:round/>
            <a:headEnd len="med" w="med" type="none"/>
            <a:tailEnd len="med" w="med" type="triangle"/>
          </a:ln>
        </p:spPr>
      </p:cxnSp>
      <p:cxnSp>
        <p:nvCxnSpPr>
          <p:cNvPr id="103" name="Google Shape;103;p14"/>
          <p:cNvCxnSpPr>
            <a:stCxn id="98" idx="2"/>
            <a:endCxn id="99" idx="0"/>
          </p:cNvCxnSpPr>
          <p:nvPr/>
        </p:nvCxnSpPr>
        <p:spPr>
          <a:xfrm>
            <a:off x="6737000" y="4362125"/>
            <a:ext cx="0" cy="156600"/>
          </a:xfrm>
          <a:prstGeom prst="straightConnector1">
            <a:avLst/>
          </a:prstGeom>
          <a:noFill/>
          <a:ln cap="flat" cmpd="sng" w="9525">
            <a:solidFill>
              <a:schemeClr val="dk2"/>
            </a:solidFill>
            <a:prstDash val="solid"/>
            <a:round/>
            <a:headEnd len="med" w="med" type="none"/>
            <a:tailEnd len="med" w="med" type="triangle"/>
          </a:ln>
        </p:spPr>
      </p:cxnSp>
      <p:sp>
        <p:nvSpPr>
          <p:cNvPr id="104" name="Google Shape;104;p14"/>
          <p:cNvSpPr txBox="1"/>
          <p:nvPr/>
        </p:nvSpPr>
        <p:spPr>
          <a:xfrm>
            <a:off x="5099000" y="2144300"/>
            <a:ext cx="10920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Workflow : </a:t>
            </a:r>
            <a:endParaRPr b="1" sz="1300">
              <a:solidFill>
                <a:schemeClr val="accen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727800" y="6794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SOURCES </a:t>
            </a:r>
            <a:endParaRPr/>
          </a:p>
        </p:txBody>
      </p:sp>
      <p:sp>
        <p:nvSpPr>
          <p:cNvPr id="110" name="Google Shape;110;p15"/>
          <p:cNvSpPr txBox="1"/>
          <p:nvPr>
            <p:ph idx="1" type="body"/>
          </p:nvPr>
        </p:nvSpPr>
        <p:spPr>
          <a:xfrm>
            <a:off x="797700" y="1335988"/>
            <a:ext cx="3774300" cy="3505500"/>
          </a:xfrm>
          <a:prstGeom prst="rect">
            <a:avLst/>
          </a:prstGeom>
        </p:spPr>
        <p:txBody>
          <a:bodyPr anchorCtr="0" anchor="t" bIns="91425" lIns="91425" spcFirstLastPara="1" rIns="91425" wrap="square" tIns="91425">
            <a:normAutofit fontScale="92500" lnSpcReduction="20000"/>
          </a:bodyPr>
          <a:lstStyle/>
          <a:p>
            <a:pPr indent="-299085" lvl="0" marL="457200" rtl="0" algn="l">
              <a:lnSpc>
                <a:spcPct val="150000"/>
              </a:lnSpc>
              <a:spcBef>
                <a:spcPts val="1200"/>
              </a:spcBef>
              <a:spcAft>
                <a:spcPts val="0"/>
              </a:spcAft>
              <a:buSzPct val="100000"/>
              <a:buChar char="●"/>
            </a:pPr>
            <a:r>
              <a:rPr lang="en-GB" sz="1200"/>
              <a:t>Datasets Used (Analysis Period : 2022-2026)</a:t>
            </a:r>
            <a:endParaRPr sz="1200"/>
          </a:p>
          <a:p>
            <a:pPr indent="-293211" lvl="1" marL="914400" rtl="0" algn="l">
              <a:lnSpc>
                <a:spcPct val="150000"/>
              </a:lnSpc>
              <a:spcBef>
                <a:spcPts val="0"/>
              </a:spcBef>
              <a:spcAft>
                <a:spcPts val="0"/>
              </a:spcAft>
              <a:buSzPct val="100000"/>
              <a:buChar char="○"/>
            </a:pPr>
            <a:r>
              <a:rPr lang="en-GB"/>
              <a:t> </a:t>
            </a:r>
            <a:r>
              <a:rPr lang="en-GB" sz="1100"/>
              <a:t>Fund Master</a:t>
            </a:r>
            <a:endParaRPr sz="1100"/>
          </a:p>
          <a:p>
            <a:pPr indent="-293211" lvl="1" marL="914400" rtl="0" algn="l">
              <a:lnSpc>
                <a:spcPct val="150000"/>
              </a:lnSpc>
              <a:spcBef>
                <a:spcPts val="0"/>
              </a:spcBef>
              <a:spcAft>
                <a:spcPts val="0"/>
              </a:spcAft>
              <a:buSzPct val="100000"/>
              <a:buChar char="○"/>
            </a:pPr>
            <a:r>
              <a:rPr lang="en-GB" sz="1100"/>
              <a:t> NAV History</a:t>
            </a:r>
            <a:endParaRPr sz="1100"/>
          </a:p>
          <a:p>
            <a:pPr indent="-293211" lvl="1" marL="914400" rtl="0" algn="l">
              <a:lnSpc>
                <a:spcPct val="150000"/>
              </a:lnSpc>
              <a:spcBef>
                <a:spcPts val="0"/>
              </a:spcBef>
              <a:spcAft>
                <a:spcPts val="0"/>
              </a:spcAft>
              <a:buSzPct val="100000"/>
              <a:buChar char="○"/>
            </a:pPr>
            <a:r>
              <a:rPr lang="en-GB" sz="1100"/>
              <a:t>Investor Transactions</a:t>
            </a:r>
            <a:endParaRPr sz="1100"/>
          </a:p>
          <a:p>
            <a:pPr indent="-293211" lvl="1" marL="914400" rtl="0" algn="l">
              <a:lnSpc>
                <a:spcPct val="150000"/>
              </a:lnSpc>
              <a:spcBef>
                <a:spcPts val="0"/>
              </a:spcBef>
              <a:spcAft>
                <a:spcPts val="0"/>
              </a:spcAft>
              <a:buSzPct val="100000"/>
              <a:buChar char="○"/>
            </a:pPr>
            <a:r>
              <a:rPr lang="en-GB" sz="1100"/>
              <a:t>Scheme Performance</a:t>
            </a:r>
            <a:endParaRPr sz="1100"/>
          </a:p>
          <a:p>
            <a:pPr indent="-293211" lvl="1" marL="914400" rtl="0" algn="l">
              <a:lnSpc>
                <a:spcPct val="150000"/>
              </a:lnSpc>
              <a:spcBef>
                <a:spcPts val="0"/>
              </a:spcBef>
              <a:spcAft>
                <a:spcPts val="0"/>
              </a:spcAft>
              <a:buSzPct val="100000"/>
              <a:buChar char="○"/>
            </a:pPr>
            <a:r>
              <a:rPr lang="en-GB" sz="1100"/>
              <a:t>AUM by Fund House</a:t>
            </a:r>
            <a:endParaRPr sz="1100"/>
          </a:p>
          <a:p>
            <a:pPr indent="-293211" lvl="1" marL="914400" rtl="0" algn="l">
              <a:lnSpc>
                <a:spcPct val="150000"/>
              </a:lnSpc>
              <a:spcBef>
                <a:spcPts val="0"/>
              </a:spcBef>
              <a:spcAft>
                <a:spcPts val="0"/>
              </a:spcAft>
              <a:buSzPct val="100000"/>
              <a:buChar char="○"/>
            </a:pPr>
            <a:r>
              <a:rPr lang="en-GB" sz="1100"/>
              <a:t>Monthly SIP Inflows</a:t>
            </a:r>
            <a:endParaRPr sz="1100"/>
          </a:p>
          <a:p>
            <a:pPr indent="-293211" lvl="1" marL="914400" rtl="0" algn="l">
              <a:lnSpc>
                <a:spcPct val="150000"/>
              </a:lnSpc>
              <a:spcBef>
                <a:spcPts val="0"/>
              </a:spcBef>
              <a:spcAft>
                <a:spcPts val="0"/>
              </a:spcAft>
              <a:buSzPct val="100000"/>
              <a:buChar char="○"/>
            </a:pPr>
            <a:r>
              <a:rPr lang="en-GB" sz="1100"/>
              <a:t>Category Inflows</a:t>
            </a:r>
            <a:endParaRPr sz="1100"/>
          </a:p>
          <a:p>
            <a:pPr indent="-293211" lvl="1" marL="914400" rtl="0" algn="l">
              <a:lnSpc>
                <a:spcPct val="150000"/>
              </a:lnSpc>
              <a:spcBef>
                <a:spcPts val="0"/>
              </a:spcBef>
              <a:spcAft>
                <a:spcPts val="0"/>
              </a:spcAft>
              <a:buSzPct val="100000"/>
              <a:buChar char="○"/>
            </a:pPr>
            <a:r>
              <a:rPr lang="en-GB" sz="1100"/>
              <a:t>Industry Folio Count</a:t>
            </a:r>
            <a:endParaRPr sz="1100"/>
          </a:p>
          <a:p>
            <a:pPr indent="-293211" lvl="1" marL="914400" rtl="0" algn="l">
              <a:lnSpc>
                <a:spcPct val="150000"/>
              </a:lnSpc>
              <a:spcBef>
                <a:spcPts val="0"/>
              </a:spcBef>
              <a:spcAft>
                <a:spcPts val="0"/>
              </a:spcAft>
              <a:buSzPct val="100000"/>
              <a:buChar char="○"/>
            </a:pPr>
            <a:r>
              <a:rPr lang="en-GB" sz="1100"/>
              <a:t>Portfolio Holdings</a:t>
            </a:r>
            <a:endParaRPr sz="1100"/>
          </a:p>
          <a:p>
            <a:pPr indent="-293211" lvl="1" marL="914400" rtl="0" algn="l">
              <a:lnSpc>
                <a:spcPct val="150000"/>
              </a:lnSpc>
              <a:spcBef>
                <a:spcPts val="0"/>
              </a:spcBef>
              <a:spcAft>
                <a:spcPts val="0"/>
              </a:spcAft>
              <a:buSzPct val="100000"/>
              <a:buChar char="○"/>
            </a:pPr>
            <a:r>
              <a:rPr lang="en-GB" sz="1100"/>
              <a:t>Benchmark Indices</a:t>
            </a:r>
            <a:endParaRPr sz="1100"/>
          </a:p>
          <a:p>
            <a:pPr indent="-299085" lvl="0" marL="457200" rtl="0" algn="l">
              <a:lnSpc>
                <a:spcPct val="150000"/>
              </a:lnSpc>
              <a:spcBef>
                <a:spcPts val="0"/>
              </a:spcBef>
              <a:spcAft>
                <a:spcPts val="0"/>
              </a:spcAft>
              <a:buSzPct val="100000"/>
              <a:buChar char="●"/>
            </a:pPr>
            <a:r>
              <a:rPr lang="en-GB" sz="1200"/>
              <a:t>Key Dimensions:</a:t>
            </a:r>
            <a:endParaRPr sz="1200"/>
          </a:p>
          <a:p>
            <a:pPr indent="-293211" lvl="1" marL="914400" rtl="0" algn="l">
              <a:lnSpc>
                <a:spcPct val="150000"/>
              </a:lnSpc>
              <a:spcBef>
                <a:spcPts val="0"/>
              </a:spcBef>
              <a:spcAft>
                <a:spcPts val="0"/>
              </a:spcAft>
              <a:buSzPct val="100000"/>
              <a:buChar char="○"/>
            </a:pPr>
            <a:r>
              <a:rPr lang="en-GB" sz="1100"/>
              <a:t>Fund Performance</a:t>
            </a:r>
            <a:endParaRPr sz="1100"/>
          </a:p>
          <a:p>
            <a:pPr indent="-293211" lvl="1" marL="914400" rtl="0" algn="l">
              <a:lnSpc>
                <a:spcPct val="150000"/>
              </a:lnSpc>
              <a:spcBef>
                <a:spcPts val="0"/>
              </a:spcBef>
              <a:spcAft>
                <a:spcPts val="0"/>
              </a:spcAft>
              <a:buSzPct val="100000"/>
              <a:buChar char="○"/>
            </a:pPr>
            <a:r>
              <a:rPr lang="en-GB" sz="1100"/>
              <a:t>Investor Behaviour</a:t>
            </a:r>
            <a:endParaRPr sz="1100"/>
          </a:p>
          <a:p>
            <a:pPr indent="-293211" lvl="1" marL="914400" rtl="0" algn="l">
              <a:lnSpc>
                <a:spcPct val="150000"/>
              </a:lnSpc>
              <a:spcBef>
                <a:spcPts val="0"/>
              </a:spcBef>
              <a:spcAft>
                <a:spcPts val="0"/>
              </a:spcAft>
              <a:buSzPct val="100000"/>
              <a:buChar char="○"/>
            </a:pPr>
            <a:r>
              <a:rPr lang="en-GB" sz="1100"/>
              <a:t>Risk Analytics</a:t>
            </a:r>
            <a:endParaRPr sz="1100"/>
          </a:p>
          <a:p>
            <a:pPr indent="-293211" lvl="1" marL="914400" rtl="0" algn="l">
              <a:lnSpc>
                <a:spcPct val="150000"/>
              </a:lnSpc>
              <a:spcBef>
                <a:spcPts val="0"/>
              </a:spcBef>
              <a:spcAft>
                <a:spcPts val="0"/>
              </a:spcAft>
              <a:buSzPct val="100000"/>
              <a:buChar char="○"/>
            </a:pPr>
            <a:r>
              <a:rPr lang="en-GB" sz="1100"/>
              <a:t>Market Trends</a:t>
            </a:r>
            <a:endParaRPr/>
          </a:p>
        </p:txBody>
      </p:sp>
      <p:sp>
        <p:nvSpPr>
          <p:cNvPr id="111" name="Google Shape;111;p15"/>
          <p:cNvSpPr txBox="1"/>
          <p:nvPr>
            <p:ph idx="2" type="body"/>
          </p:nvPr>
        </p:nvSpPr>
        <p:spPr>
          <a:xfrm>
            <a:off x="4641900" y="1270625"/>
            <a:ext cx="3774300" cy="2989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Dataset Summary : </a:t>
            </a:r>
            <a:endParaRPr/>
          </a:p>
        </p:txBody>
      </p:sp>
      <p:pic>
        <p:nvPicPr>
          <p:cNvPr id="112" name="Google Shape;112;p15"/>
          <p:cNvPicPr preferRelativeResize="0"/>
          <p:nvPr/>
        </p:nvPicPr>
        <p:blipFill>
          <a:blip r:embed="rId3">
            <a:alphaModFix/>
          </a:blip>
          <a:stretch>
            <a:fillRect/>
          </a:stretch>
        </p:blipFill>
        <p:spPr>
          <a:xfrm>
            <a:off x="4922863" y="1696877"/>
            <a:ext cx="3212368" cy="2783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727800" y="54960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System Architecture &amp; ETL Pipeline </a:t>
            </a:r>
            <a:endParaRPr/>
          </a:p>
        </p:txBody>
      </p:sp>
      <p:sp>
        <p:nvSpPr>
          <p:cNvPr id="118" name="Google Shape;118;p16"/>
          <p:cNvSpPr txBox="1"/>
          <p:nvPr>
            <p:ph idx="1" type="body"/>
          </p:nvPr>
        </p:nvSpPr>
        <p:spPr>
          <a:xfrm>
            <a:off x="729325" y="1320550"/>
            <a:ext cx="3774300" cy="352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Pipeline Workflow:</a:t>
            </a:r>
            <a:endParaRPr/>
          </a:p>
        </p:txBody>
      </p:sp>
      <p:sp>
        <p:nvSpPr>
          <p:cNvPr id="119" name="Google Shape;119;p16"/>
          <p:cNvSpPr txBox="1"/>
          <p:nvPr>
            <p:ph idx="2" type="body"/>
          </p:nvPr>
        </p:nvSpPr>
        <p:spPr>
          <a:xfrm>
            <a:off x="4643600" y="1360500"/>
            <a:ext cx="3774300" cy="3525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GB"/>
              <a:t>Automated ETL pipeline developed using Python</a:t>
            </a:r>
            <a:endParaRPr/>
          </a:p>
          <a:p>
            <a:pPr indent="-311150" lvl="0" marL="457200" rtl="0" algn="l">
              <a:lnSpc>
                <a:spcPct val="150000"/>
              </a:lnSpc>
              <a:spcBef>
                <a:spcPts val="0"/>
              </a:spcBef>
              <a:spcAft>
                <a:spcPts val="0"/>
              </a:spcAft>
              <a:buSzPts val="1300"/>
              <a:buChar char="●"/>
            </a:pPr>
            <a:r>
              <a:rPr lang="en-GB"/>
              <a:t>SQLite used as analytical database</a:t>
            </a:r>
            <a:endParaRPr/>
          </a:p>
          <a:p>
            <a:pPr indent="-311150" lvl="0" marL="457200" rtl="0" algn="l">
              <a:lnSpc>
                <a:spcPct val="150000"/>
              </a:lnSpc>
              <a:spcBef>
                <a:spcPts val="0"/>
              </a:spcBef>
              <a:spcAft>
                <a:spcPts val="0"/>
              </a:spcAft>
              <a:buSzPts val="1300"/>
              <a:buChar char="●"/>
            </a:pPr>
            <a:r>
              <a:rPr lang="en-GB"/>
              <a:t>Power BI used for dashboard visualization</a:t>
            </a:r>
            <a:endParaRPr/>
          </a:p>
        </p:txBody>
      </p:sp>
      <p:sp>
        <p:nvSpPr>
          <p:cNvPr id="120" name="Google Shape;120;p16"/>
          <p:cNvSpPr/>
          <p:nvPr/>
        </p:nvSpPr>
        <p:spPr>
          <a:xfrm>
            <a:off x="3136775" y="1380475"/>
            <a:ext cx="1212000" cy="3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Lato"/>
                <a:ea typeface="Lato"/>
                <a:cs typeface="Lato"/>
                <a:sym typeface="Lato"/>
              </a:rPr>
              <a:t>Raw Csv Datasets</a:t>
            </a:r>
            <a:endParaRPr sz="900">
              <a:latin typeface="Lato"/>
              <a:ea typeface="Lato"/>
              <a:cs typeface="Lato"/>
              <a:sym typeface="Lato"/>
            </a:endParaRPr>
          </a:p>
        </p:txBody>
      </p:sp>
      <p:sp>
        <p:nvSpPr>
          <p:cNvPr id="121" name="Google Shape;121;p16"/>
          <p:cNvSpPr/>
          <p:nvPr/>
        </p:nvSpPr>
        <p:spPr>
          <a:xfrm>
            <a:off x="3136725" y="4466725"/>
            <a:ext cx="1212000" cy="3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Lato"/>
                <a:ea typeface="Lato"/>
                <a:cs typeface="Lato"/>
                <a:sym typeface="Lato"/>
              </a:rPr>
              <a:t>Business Insights</a:t>
            </a:r>
            <a:endParaRPr sz="900">
              <a:latin typeface="Lato"/>
              <a:ea typeface="Lato"/>
              <a:cs typeface="Lato"/>
              <a:sym typeface="Lato"/>
            </a:endParaRPr>
          </a:p>
        </p:txBody>
      </p:sp>
      <p:sp>
        <p:nvSpPr>
          <p:cNvPr id="122" name="Google Shape;122;p16"/>
          <p:cNvSpPr/>
          <p:nvPr/>
        </p:nvSpPr>
        <p:spPr>
          <a:xfrm>
            <a:off x="3136725" y="1888075"/>
            <a:ext cx="1212000" cy="3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Lato"/>
                <a:ea typeface="Lato"/>
                <a:cs typeface="Lato"/>
                <a:sym typeface="Lato"/>
              </a:rPr>
              <a:t>Data Validation</a:t>
            </a:r>
            <a:endParaRPr sz="900">
              <a:latin typeface="Lato"/>
              <a:ea typeface="Lato"/>
              <a:cs typeface="Lato"/>
              <a:sym typeface="Lato"/>
            </a:endParaRPr>
          </a:p>
        </p:txBody>
      </p:sp>
      <p:sp>
        <p:nvSpPr>
          <p:cNvPr id="123" name="Google Shape;123;p16"/>
          <p:cNvSpPr/>
          <p:nvPr/>
        </p:nvSpPr>
        <p:spPr>
          <a:xfrm>
            <a:off x="3136775" y="2383513"/>
            <a:ext cx="1212000" cy="3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Lato"/>
                <a:ea typeface="Lato"/>
                <a:cs typeface="Lato"/>
                <a:sym typeface="Lato"/>
              </a:rPr>
              <a:t>Data Cleaning</a:t>
            </a:r>
            <a:endParaRPr sz="900">
              <a:latin typeface="Lato"/>
              <a:ea typeface="Lato"/>
              <a:cs typeface="Lato"/>
              <a:sym typeface="Lato"/>
            </a:endParaRPr>
          </a:p>
        </p:txBody>
      </p:sp>
      <p:sp>
        <p:nvSpPr>
          <p:cNvPr id="124" name="Google Shape;124;p16"/>
          <p:cNvSpPr/>
          <p:nvPr/>
        </p:nvSpPr>
        <p:spPr>
          <a:xfrm>
            <a:off x="3136775" y="2878950"/>
            <a:ext cx="1212000" cy="3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Lato"/>
                <a:ea typeface="Lato"/>
                <a:cs typeface="Lato"/>
                <a:sym typeface="Lato"/>
              </a:rPr>
              <a:t>SQLite Database</a:t>
            </a:r>
            <a:endParaRPr sz="900"/>
          </a:p>
        </p:txBody>
      </p:sp>
      <p:sp>
        <p:nvSpPr>
          <p:cNvPr id="125" name="Google Shape;125;p16"/>
          <p:cNvSpPr/>
          <p:nvPr/>
        </p:nvSpPr>
        <p:spPr>
          <a:xfrm>
            <a:off x="3136775" y="3410850"/>
            <a:ext cx="1212000" cy="3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Lato"/>
                <a:ea typeface="Lato"/>
                <a:cs typeface="Lato"/>
                <a:sym typeface="Lato"/>
              </a:rPr>
              <a:t>EDA and Analytics</a:t>
            </a:r>
            <a:endParaRPr sz="900">
              <a:latin typeface="Lato"/>
              <a:ea typeface="Lato"/>
              <a:cs typeface="Lato"/>
              <a:sym typeface="Lato"/>
            </a:endParaRPr>
          </a:p>
        </p:txBody>
      </p:sp>
      <p:sp>
        <p:nvSpPr>
          <p:cNvPr id="126" name="Google Shape;126;p16"/>
          <p:cNvSpPr/>
          <p:nvPr/>
        </p:nvSpPr>
        <p:spPr>
          <a:xfrm>
            <a:off x="3136725" y="3938800"/>
            <a:ext cx="1212000" cy="31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900">
                <a:latin typeface="Lato"/>
                <a:ea typeface="Lato"/>
                <a:cs typeface="Lato"/>
                <a:sym typeface="Lato"/>
              </a:rPr>
              <a:t>PowerBI Dashboard</a:t>
            </a:r>
            <a:endParaRPr sz="900">
              <a:latin typeface="Lato"/>
              <a:ea typeface="Lato"/>
              <a:cs typeface="Lato"/>
              <a:sym typeface="Lato"/>
            </a:endParaRPr>
          </a:p>
        </p:txBody>
      </p:sp>
      <p:cxnSp>
        <p:nvCxnSpPr>
          <p:cNvPr id="127" name="Google Shape;127;p16"/>
          <p:cNvCxnSpPr>
            <a:stCxn id="120" idx="2"/>
            <a:endCxn id="122" idx="0"/>
          </p:cNvCxnSpPr>
          <p:nvPr/>
        </p:nvCxnSpPr>
        <p:spPr>
          <a:xfrm>
            <a:off x="3742775" y="1699975"/>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128" name="Google Shape;128;p16"/>
          <p:cNvCxnSpPr/>
          <p:nvPr/>
        </p:nvCxnSpPr>
        <p:spPr>
          <a:xfrm>
            <a:off x="3742725" y="2207575"/>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129" name="Google Shape;129;p16"/>
          <p:cNvCxnSpPr/>
          <p:nvPr/>
        </p:nvCxnSpPr>
        <p:spPr>
          <a:xfrm>
            <a:off x="3742775" y="3738538"/>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130" name="Google Shape;130;p16"/>
          <p:cNvCxnSpPr/>
          <p:nvPr/>
        </p:nvCxnSpPr>
        <p:spPr>
          <a:xfrm>
            <a:off x="3742725" y="2715163"/>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131" name="Google Shape;131;p16"/>
          <p:cNvCxnSpPr/>
          <p:nvPr/>
        </p:nvCxnSpPr>
        <p:spPr>
          <a:xfrm>
            <a:off x="3742725" y="3210600"/>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132" name="Google Shape;132;p16"/>
          <p:cNvCxnSpPr/>
          <p:nvPr/>
        </p:nvCxnSpPr>
        <p:spPr>
          <a:xfrm>
            <a:off x="3742775" y="4268463"/>
            <a:ext cx="0" cy="188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txBox="1"/>
          <p:nvPr>
            <p:ph type="title"/>
          </p:nvPr>
        </p:nvSpPr>
        <p:spPr>
          <a:xfrm>
            <a:off x="727800" y="5995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EDA Highlights – Industry Growth </a:t>
            </a:r>
            <a:endParaRPr/>
          </a:p>
        </p:txBody>
      </p:sp>
      <p:sp>
        <p:nvSpPr>
          <p:cNvPr id="138" name="Google Shape;138;p17"/>
          <p:cNvSpPr txBox="1"/>
          <p:nvPr>
            <p:ph idx="1" type="body"/>
          </p:nvPr>
        </p:nvSpPr>
        <p:spPr>
          <a:xfrm>
            <a:off x="729325" y="1440400"/>
            <a:ext cx="3774300" cy="3332400"/>
          </a:xfrm>
          <a:prstGeom prst="rect">
            <a:avLst/>
          </a:prstGeom>
        </p:spPr>
        <p:txBody>
          <a:bodyPr anchorCtr="0" anchor="t" bIns="91425" lIns="91425" spcFirstLastPara="1" rIns="91425" wrap="square" tIns="91425">
            <a:normAutofit/>
          </a:bodyPr>
          <a:lstStyle/>
          <a:p>
            <a:pPr indent="-311150" lvl="0" marL="457200" rtl="0" algn="l">
              <a:lnSpc>
                <a:spcPct val="200000"/>
              </a:lnSpc>
              <a:spcBef>
                <a:spcPts val="0"/>
              </a:spcBef>
              <a:spcAft>
                <a:spcPts val="0"/>
              </a:spcAft>
              <a:buSzPts val="1300"/>
              <a:buChar char="●"/>
            </a:pPr>
            <a:r>
              <a:rPr lang="en-GB"/>
              <a:t>Key Findings</a:t>
            </a:r>
            <a:endParaRPr/>
          </a:p>
          <a:p>
            <a:pPr indent="-298450" lvl="1" marL="914400" rtl="0" algn="l">
              <a:lnSpc>
                <a:spcPct val="200000"/>
              </a:lnSpc>
              <a:spcBef>
                <a:spcPts val="0"/>
              </a:spcBef>
              <a:spcAft>
                <a:spcPts val="0"/>
              </a:spcAft>
              <a:buSzPts val="1100"/>
              <a:buChar char="○"/>
            </a:pPr>
            <a:r>
              <a:rPr lang="en-GB"/>
              <a:t>Industry AUM increased steadily from 2022–2025</a:t>
            </a:r>
            <a:endParaRPr/>
          </a:p>
          <a:p>
            <a:pPr indent="-298450" lvl="1" marL="914400" rtl="0" algn="l">
              <a:lnSpc>
                <a:spcPct val="200000"/>
              </a:lnSpc>
              <a:spcBef>
                <a:spcPts val="0"/>
              </a:spcBef>
              <a:spcAft>
                <a:spcPts val="0"/>
              </a:spcAft>
              <a:buSzPts val="1100"/>
              <a:buChar char="○"/>
            </a:pPr>
            <a:r>
              <a:rPr lang="en-GB"/>
              <a:t>SBI Mutual Fund maintained highest AUM</a:t>
            </a:r>
            <a:endParaRPr/>
          </a:p>
          <a:p>
            <a:pPr indent="-298450" lvl="1" marL="914400" rtl="0" algn="l">
              <a:lnSpc>
                <a:spcPct val="200000"/>
              </a:lnSpc>
              <a:spcBef>
                <a:spcPts val="0"/>
              </a:spcBef>
              <a:spcAft>
                <a:spcPts val="0"/>
              </a:spcAft>
              <a:buSzPts val="1100"/>
              <a:buChar char="○"/>
            </a:pPr>
            <a:r>
              <a:rPr lang="en-GB"/>
              <a:t>SIP inflows reached record highs in 2025</a:t>
            </a:r>
            <a:endParaRPr/>
          </a:p>
          <a:p>
            <a:pPr indent="-298450" lvl="1" marL="914400" rtl="0" algn="l">
              <a:lnSpc>
                <a:spcPct val="200000"/>
              </a:lnSpc>
              <a:spcBef>
                <a:spcPts val="0"/>
              </a:spcBef>
              <a:spcAft>
                <a:spcPts val="0"/>
              </a:spcAft>
              <a:buSzPts val="1100"/>
              <a:buChar char="○"/>
            </a:pPr>
            <a:r>
              <a:rPr lang="en-GB"/>
              <a:t>Retail participation continued to increase</a:t>
            </a:r>
            <a:endParaRPr/>
          </a:p>
        </p:txBody>
      </p:sp>
      <p:sp>
        <p:nvSpPr>
          <p:cNvPr id="139" name="Google Shape;139;p17"/>
          <p:cNvSpPr txBox="1"/>
          <p:nvPr>
            <p:ph idx="2" type="body"/>
          </p:nvPr>
        </p:nvSpPr>
        <p:spPr>
          <a:xfrm>
            <a:off x="4643600" y="1390475"/>
            <a:ext cx="3774300" cy="294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0" name="Google Shape;140;p17"/>
          <p:cNvPicPr preferRelativeResize="0"/>
          <p:nvPr/>
        </p:nvPicPr>
        <p:blipFill>
          <a:blip r:embed="rId3">
            <a:alphaModFix/>
          </a:blip>
          <a:stretch>
            <a:fillRect/>
          </a:stretch>
        </p:blipFill>
        <p:spPr>
          <a:xfrm>
            <a:off x="4572000" y="1134750"/>
            <a:ext cx="3774300" cy="1864525"/>
          </a:xfrm>
          <a:prstGeom prst="rect">
            <a:avLst/>
          </a:prstGeom>
          <a:noFill/>
          <a:ln>
            <a:noFill/>
          </a:ln>
        </p:spPr>
      </p:pic>
      <p:pic>
        <p:nvPicPr>
          <p:cNvPr id="141" name="Google Shape;141;p17"/>
          <p:cNvPicPr preferRelativeResize="0"/>
          <p:nvPr/>
        </p:nvPicPr>
        <p:blipFill>
          <a:blip r:embed="rId4">
            <a:alphaModFix/>
          </a:blip>
          <a:stretch>
            <a:fillRect/>
          </a:stretch>
        </p:blipFill>
        <p:spPr>
          <a:xfrm>
            <a:off x="4643600" y="3039225"/>
            <a:ext cx="3774300" cy="1733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8"/>
          <p:cNvSpPr txBox="1"/>
          <p:nvPr>
            <p:ph type="title"/>
          </p:nvPr>
        </p:nvSpPr>
        <p:spPr>
          <a:xfrm>
            <a:off x="779400" y="61952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EDA Highlights – Investor Behaviour </a:t>
            </a:r>
            <a:endParaRPr/>
          </a:p>
        </p:txBody>
      </p:sp>
      <p:sp>
        <p:nvSpPr>
          <p:cNvPr id="147" name="Google Shape;147;p18"/>
          <p:cNvSpPr txBox="1"/>
          <p:nvPr>
            <p:ph idx="1" type="body"/>
          </p:nvPr>
        </p:nvSpPr>
        <p:spPr>
          <a:xfrm>
            <a:off x="729325" y="1420425"/>
            <a:ext cx="3774300" cy="30960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GB"/>
              <a:t>Key Findings</a:t>
            </a:r>
            <a:endParaRPr/>
          </a:p>
          <a:p>
            <a:pPr indent="-298450" lvl="1" marL="914400" rtl="0" algn="l">
              <a:lnSpc>
                <a:spcPct val="150000"/>
              </a:lnSpc>
              <a:spcBef>
                <a:spcPts val="0"/>
              </a:spcBef>
              <a:spcAft>
                <a:spcPts val="0"/>
              </a:spcAft>
              <a:buSzPts val="1100"/>
              <a:buChar char="○"/>
            </a:pPr>
            <a:r>
              <a:rPr lang="en-GB"/>
              <a:t>Investors aged 26–45 dominated participation</a:t>
            </a:r>
            <a:endParaRPr/>
          </a:p>
          <a:p>
            <a:pPr indent="-298450" lvl="1" marL="914400" rtl="0" algn="l">
              <a:lnSpc>
                <a:spcPct val="150000"/>
              </a:lnSpc>
              <a:spcBef>
                <a:spcPts val="0"/>
              </a:spcBef>
              <a:spcAft>
                <a:spcPts val="0"/>
              </a:spcAft>
              <a:buSzPts val="1100"/>
              <a:buChar char="○"/>
            </a:pPr>
            <a:r>
              <a:rPr lang="en-GB"/>
              <a:t>Maharashtra, Karnataka and Telangana led investments</a:t>
            </a:r>
            <a:endParaRPr/>
          </a:p>
          <a:p>
            <a:pPr indent="-298450" lvl="1" marL="914400" rtl="0" algn="l">
              <a:lnSpc>
                <a:spcPct val="150000"/>
              </a:lnSpc>
              <a:spcBef>
                <a:spcPts val="0"/>
              </a:spcBef>
              <a:spcAft>
                <a:spcPts val="0"/>
              </a:spcAft>
              <a:buSzPts val="1100"/>
              <a:buChar char="○"/>
            </a:pPr>
            <a:r>
              <a:rPr lang="en-GB"/>
              <a:t>T30 cities contributed majority of investments</a:t>
            </a:r>
            <a:endParaRPr/>
          </a:p>
          <a:p>
            <a:pPr indent="-298450" lvl="1" marL="914400" rtl="0" algn="l">
              <a:lnSpc>
                <a:spcPct val="150000"/>
              </a:lnSpc>
              <a:spcBef>
                <a:spcPts val="0"/>
              </a:spcBef>
              <a:spcAft>
                <a:spcPts val="0"/>
              </a:spcAft>
              <a:buSzPts val="1100"/>
              <a:buChar char="○"/>
            </a:pPr>
            <a:r>
              <a:rPr lang="en-GB"/>
              <a:t>B30 participation showed gradual growth</a:t>
            </a:r>
            <a:endParaRPr/>
          </a:p>
        </p:txBody>
      </p:sp>
      <p:sp>
        <p:nvSpPr>
          <p:cNvPr id="148" name="Google Shape;148;p18"/>
          <p:cNvSpPr txBox="1"/>
          <p:nvPr>
            <p:ph idx="2" type="body"/>
          </p:nvPr>
        </p:nvSpPr>
        <p:spPr>
          <a:xfrm>
            <a:off x="4643600" y="1420375"/>
            <a:ext cx="3774300" cy="291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9" name="Google Shape;149;p18"/>
          <p:cNvPicPr preferRelativeResize="0"/>
          <p:nvPr/>
        </p:nvPicPr>
        <p:blipFill>
          <a:blip r:embed="rId3">
            <a:alphaModFix/>
          </a:blip>
          <a:stretch>
            <a:fillRect/>
          </a:stretch>
        </p:blipFill>
        <p:spPr>
          <a:xfrm>
            <a:off x="4649798" y="1420433"/>
            <a:ext cx="2038350" cy="2043342"/>
          </a:xfrm>
          <a:prstGeom prst="rect">
            <a:avLst/>
          </a:prstGeom>
          <a:noFill/>
          <a:ln>
            <a:noFill/>
          </a:ln>
        </p:spPr>
      </p:pic>
      <p:pic>
        <p:nvPicPr>
          <p:cNvPr id="150" name="Google Shape;150;p18"/>
          <p:cNvPicPr preferRelativeResize="0"/>
          <p:nvPr/>
        </p:nvPicPr>
        <p:blipFill>
          <a:blip r:embed="rId4">
            <a:alphaModFix/>
          </a:blip>
          <a:stretch>
            <a:fillRect/>
          </a:stretch>
        </p:blipFill>
        <p:spPr>
          <a:xfrm>
            <a:off x="6834325" y="1470538"/>
            <a:ext cx="2038350" cy="1943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9"/>
          <p:cNvSpPr txBox="1"/>
          <p:nvPr>
            <p:ph type="title"/>
          </p:nvPr>
        </p:nvSpPr>
        <p:spPr>
          <a:xfrm>
            <a:off x="727800" y="55960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Mutual Fund Performance Evaluation </a:t>
            </a:r>
            <a:endParaRPr/>
          </a:p>
        </p:txBody>
      </p:sp>
      <p:sp>
        <p:nvSpPr>
          <p:cNvPr id="156" name="Google Shape;156;p19"/>
          <p:cNvSpPr txBox="1"/>
          <p:nvPr>
            <p:ph idx="1" type="body"/>
          </p:nvPr>
        </p:nvSpPr>
        <p:spPr>
          <a:xfrm>
            <a:off x="729325" y="1320550"/>
            <a:ext cx="3774300" cy="34257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GB"/>
              <a:t>Metrics Computed</a:t>
            </a:r>
            <a:endParaRPr/>
          </a:p>
          <a:p>
            <a:pPr indent="-298450" lvl="1" marL="914400" rtl="0" algn="l">
              <a:lnSpc>
                <a:spcPct val="150000"/>
              </a:lnSpc>
              <a:spcBef>
                <a:spcPts val="0"/>
              </a:spcBef>
              <a:spcAft>
                <a:spcPts val="0"/>
              </a:spcAft>
              <a:buSzPts val="1100"/>
              <a:buChar char="○"/>
            </a:pPr>
            <a:r>
              <a:rPr lang="en-GB"/>
              <a:t>CAGR</a:t>
            </a:r>
            <a:endParaRPr/>
          </a:p>
          <a:p>
            <a:pPr indent="-298450" lvl="1" marL="914400" rtl="0" algn="l">
              <a:lnSpc>
                <a:spcPct val="150000"/>
              </a:lnSpc>
              <a:spcBef>
                <a:spcPts val="0"/>
              </a:spcBef>
              <a:spcAft>
                <a:spcPts val="0"/>
              </a:spcAft>
              <a:buSzPts val="1100"/>
              <a:buChar char="○"/>
            </a:pPr>
            <a:r>
              <a:rPr lang="en-GB"/>
              <a:t>Sharpe Ratio</a:t>
            </a:r>
            <a:endParaRPr/>
          </a:p>
          <a:p>
            <a:pPr indent="-298450" lvl="1" marL="914400" rtl="0" algn="l">
              <a:lnSpc>
                <a:spcPct val="150000"/>
              </a:lnSpc>
              <a:spcBef>
                <a:spcPts val="0"/>
              </a:spcBef>
              <a:spcAft>
                <a:spcPts val="0"/>
              </a:spcAft>
              <a:buSzPts val="1100"/>
              <a:buChar char="○"/>
            </a:pPr>
            <a:r>
              <a:rPr lang="en-GB"/>
              <a:t>Sortino Ratio</a:t>
            </a:r>
            <a:endParaRPr/>
          </a:p>
          <a:p>
            <a:pPr indent="-298450" lvl="1" marL="914400" rtl="0" algn="l">
              <a:lnSpc>
                <a:spcPct val="150000"/>
              </a:lnSpc>
              <a:spcBef>
                <a:spcPts val="0"/>
              </a:spcBef>
              <a:spcAft>
                <a:spcPts val="0"/>
              </a:spcAft>
              <a:buSzPts val="1100"/>
              <a:buChar char="○"/>
            </a:pPr>
            <a:r>
              <a:rPr lang="en-GB"/>
              <a:t>Alpha</a:t>
            </a:r>
            <a:endParaRPr/>
          </a:p>
          <a:p>
            <a:pPr indent="-298450" lvl="1" marL="914400" rtl="0" algn="l">
              <a:lnSpc>
                <a:spcPct val="150000"/>
              </a:lnSpc>
              <a:spcBef>
                <a:spcPts val="0"/>
              </a:spcBef>
              <a:spcAft>
                <a:spcPts val="0"/>
              </a:spcAft>
              <a:buSzPts val="1100"/>
              <a:buChar char="○"/>
            </a:pPr>
            <a:r>
              <a:rPr lang="en-GB"/>
              <a:t>Beta</a:t>
            </a:r>
            <a:endParaRPr/>
          </a:p>
          <a:p>
            <a:pPr indent="-298450" lvl="1" marL="914400" rtl="0" algn="l">
              <a:lnSpc>
                <a:spcPct val="150000"/>
              </a:lnSpc>
              <a:spcBef>
                <a:spcPts val="0"/>
              </a:spcBef>
              <a:spcAft>
                <a:spcPts val="0"/>
              </a:spcAft>
              <a:buSzPts val="1100"/>
              <a:buChar char="○"/>
            </a:pPr>
            <a:r>
              <a:rPr lang="en-GB"/>
              <a:t>Maximum Drawdown</a:t>
            </a:r>
            <a:endParaRPr/>
          </a:p>
          <a:p>
            <a:pPr indent="-311150" lvl="0" marL="457200" rtl="0" algn="l">
              <a:lnSpc>
                <a:spcPct val="150000"/>
              </a:lnSpc>
              <a:spcBef>
                <a:spcPts val="0"/>
              </a:spcBef>
              <a:spcAft>
                <a:spcPts val="0"/>
              </a:spcAft>
              <a:buSzPts val="1300"/>
              <a:buChar char="●"/>
            </a:pPr>
            <a:r>
              <a:rPr lang="en-GB"/>
              <a:t>Key Observation</a:t>
            </a:r>
            <a:endParaRPr/>
          </a:p>
          <a:p>
            <a:pPr indent="-298450" lvl="1" marL="914400" rtl="0" algn="l">
              <a:lnSpc>
                <a:spcPct val="150000"/>
              </a:lnSpc>
              <a:spcBef>
                <a:spcPts val="0"/>
              </a:spcBef>
              <a:spcAft>
                <a:spcPts val="0"/>
              </a:spcAft>
              <a:buSzPts val="1100"/>
              <a:buChar char="○"/>
            </a:pPr>
            <a:r>
              <a:rPr lang="en-GB"/>
              <a:t>Funds with superior risk-adjusted returns consistently ranked higher than peers.</a:t>
            </a:r>
            <a:endParaRPr/>
          </a:p>
        </p:txBody>
      </p:sp>
      <p:sp>
        <p:nvSpPr>
          <p:cNvPr id="157" name="Google Shape;157;p19"/>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8" name="Google Shape;158;p19"/>
          <p:cNvPicPr preferRelativeResize="0"/>
          <p:nvPr/>
        </p:nvPicPr>
        <p:blipFill>
          <a:blip r:embed="rId3">
            <a:alphaModFix/>
          </a:blip>
          <a:stretch>
            <a:fillRect/>
          </a:stretch>
        </p:blipFill>
        <p:spPr>
          <a:xfrm>
            <a:off x="4311425" y="1600400"/>
            <a:ext cx="4438650" cy="286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title"/>
          </p:nvPr>
        </p:nvSpPr>
        <p:spPr>
          <a:xfrm>
            <a:off x="727800" y="62950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Risk &amp; Advanced Analytics </a:t>
            </a:r>
            <a:endParaRPr/>
          </a:p>
        </p:txBody>
      </p:sp>
      <p:sp>
        <p:nvSpPr>
          <p:cNvPr id="164" name="Google Shape;164;p20"/>
          <p:cNvSpPr txBox="1"/>
          <p:nvPr>
            <p:ph idx="1" type="body"/>
          </p:nvPr>
        </p:nvSpPr>
        <p:spPr>
          <a:xfrm>
            <a:off x="729325" y="1420425"/>
            <a:ext cx="3774300" cy="33357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GB"/>
              <a:t>Implemented Analytics</a:t>
            </a:r>
            <a:endParaRPr/>
          </a:p>
          <a:p>
            <a:pPr indent="-298450" lvl="1" marL="914400" rtl="0" algn="l">
              <a:lnSpc>
                <a:spcPct val="150000"/>
              </a:lnSpc>
              <a:spcBef>
                <a:spcPts val="0"/>
              </a:spcBef>
              <a:spcAft>
                <a:spcPts val="0"/>
              </a:spcAft>
              <a:buSzPts val="1100"/>
              <a:buChar char="○"/>
            </a:pPr>
            <a:r>
              <a:rPr lang="en-GB"/>
              <a:t>VaR (95%)</a:t>
            </a:r>
            <a:endParaRPr/>
          </a:p>
          <a:p>
            <a:pPr indent="-298450" lvl="1" marL="914400" rtl="0" algn="l">
              <a:lnSpc>
                <a:spcPct val="150000"/>
              </a:lnSpc>
              <a:spcBef>
                <a:spcPts val="0"/>
              </a:spcBef>
              <a:spcAft>
                <a:spcPts val="0"/>
              </a:spcAft>
              <a:buSzPts val="1100"/>
              <a:buChar char="○"/>
            </a:pPr>
            <a:r>
              <a:rPr lang="en-GB"/>
              <a:t>CVaR (95%)</a:t>
            </a:r>
            <a:endParaRPr/>
          </a:p>
          <a:p>
            <a:pPr indent="-298450" lvl="1" marL="914400" rtl="0" algn="l">
              <a:lnSpc>
                <a:spcPct val="150000"/>
              </a:lnSpc>
              <a:spcBef>
                <a:spcPts val="0"/>
              </a:spcBef>
              <a:spcAft>
                <a:spcPts val="0"/>
              </a:spcAft>
              <a:buSzPts val="1100"/>
              <a:buChar char="○"/>
            </a:pPr>
            <a:r>
              <a:rPr lang="en-GB"/>
              <a:t>Rolling Sharpe Ratio</a:t>
            </a:r>
            <a:endParaRPr/>
          </a:p>
          <a:p>
            <a:pPr indent="-298450" lvl="1" marL="914400" rtl="0" algn="l">
              <a:lnSpc>
                <a:spcPct val="150000"/>
              </a:lnSpc>
              <a:spcBef>
                <a:spcPts val="0"/>
              </a:spcBef>
              <a:spcAft>
                <a:spcPts val="0"/>
              </a:spcAft>
              <a:buSzPts val="1100"/>
              <a:buChar char="○"/>
            </a:pPr>
            <a:r>
              <a:rPr lang="en-GB"/>
              <a:t>Investor Cohort Analysis</a:t>
            </a:r>
            <a:endParaRPr/>
          </a:p>
          <a:p>
            <a:pPr indent="-298450" lvl="1" marL="914400" rtl="0" algn="l">
              <a:lnSpc>
                <a:spcPct val="150000"/>
              </a:lnSpc>
              <a:spcBef>
                <a:spcPts val="0"/>
              </a:spcBef>
              <a:spcAft>
                <a:spcPts val="0"/>
              </a:spcAft>
              <a:buSzPts val="1100"/>
              <a:buChar char="○"/>
            </a:pPr>
            <a:r>
              <a:rPr lang="en-GB"/>
              <a:t>SIP Continuity Analysis</a:t>
            </a:r>
            <a:endParaRPr/>
          </a:p>
          <a:p>
            <a:pPr indent="-298450" lvl="1" marL="914400" rtl="0" algn="l">
              <a:lnSpc>
                <a:spcPct val="150000"/>
              </a:lnSpc>
              <a:spcBef>
                <a:spcPts val="0"/>
              </a:spcBef>
              <a:spcAft>
                <a:spcPts val="0"/>
              </a:spcAft>
              <a:buSzPts val="1100"/>
              <a:buChar char="○"/>
            </a:pPr>
            <a:r>
              <a:rPr lang="en-GB"/>
              <a:t>HHI Portfolio Concentration</a:t>
            </a:r>
            <a:endParaRPr/>
          </a:p>
          <a:p>
            <a:pPr indent="-311150" lvl="0" marL="457200" rtl="0" algn="l">
              <a:lnSpc>
                <a:spcPct val="150000"/>
              </a:lnSpc>
              <a:spcBef>
                <a:spcPts val="0"/>
              </a:spcBef>
              <a:spcAft>
                <a:spcPts val="0"/>
              </a:spcAft>
              <a:buSzPts val="1300"/>
              <a:buChar char="●"/>
            </a:pPr>
            <a:r>
              <a:rPr lang="en-GB"/>
              <a:t>Key Observation</a:t>
            </a:r>
            <a:endParaRPr/>
          </a:p>
          <a:p>
            <a:pPr indent="-298450" lvl="1" marL="914400" rtl="0" algn="l">
              <a:lnSpc>
                <a:spcPct val="150000"/>
              </a:lnSpc>
              <a:spcBef>
                <a:spcPts val="0"/>
              </a:spcBef>
              <a:spcAft>
                <a:spcPts val="0"/>
              </a:spcAft>
              <a:buSzPts val="1100"/>
              <a:buChar char="○"/>
            </a:pPr>
            <a:r>
              <a:rPr lang="en-GB"/>
              <a:t>Higher-return funds generally exhibited greater downside risk and portfolio concentration.</a:t>
            </a:r>
            <a:endParaRPr/>
          </a:p>
        </p:txBody>
      </p:sp>
      <p:sp>
        <p:nvSpPr>
          <p:cNvPr id="165" name="Google Shape;165;p20"/>
          <p:cNvSpPr txBox="1"/>
          <p:nvPr>
            <p:ph idx="2" type="body"/>
          </p:nvPr>
        </p:nvSpPr>
        <p:spPr>
          <a:xfrm>
            <a:off x="4643600" y="1420425"/>
            <a:ext cx="3774300" cy="291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6" name="Google Shape;166;p20"/>
          <p:cNvPicPr preferRelativeResize="0"/>
          <p:nvPr/>
        </p:nvPicPr>
        <p:blipFill>
          <a:blip r:embed="rId3">
            <a:alphaModFix/>
          </a:blip>
          <a:stretch>
            <a:fillRect/>
          </a:stretch>
        </p:blipFill>
        <p:spPr>
          <a:xfrm>
            <a:off x="5113275" y="493200"/>
            <a:ext cx="2834950" cy="1973600"/>
          </a:xfrm>
          <a:prstGeom prst="rect">
            <a:avLst/>
          </a:prstGeom>
          <a:noFill/>
          <a:ln>
            <a:noFill/>
          </a:ln>
        </p:spPr>
      </p:pic>
      <p:pic>
        <p:nvPicPr>
          <p:cNvPr id="167" name="Google Shape;167;p20"/>
          <p:cNvPicPr preferRelativeResize="0"/>
          <p:nvPr/>
        </p:nvPicPr>
        <p:blipFill>
          <a:blip r:embed="rId4">
            <a:alphaModFix/>
          </a:blip>
          <a:stretch>
            <a:fillRect/>
          </a:stretch>
        </p:blipFill>
        <p:spPr>
          <a:xfrm>
            <a:off x="4325713" y="2571750"/>
            <a:ext cx="4410075" cy="2466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727800" y="6594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Power BI Dashboard – Industry &amp; Performance </a:t>
            </a:r>
            <a:endParaRPr/>
          </a:p>
        </p:txBody>
      </p:sp>
      <p:sp>
        <p:nvSpPr>
          <p:cNvPr id="173" name="Google Shape;173;p21"/>
          <p:cNvSpPr txBox="1"/>
          <p:nvPr>
            <p:ph idx="1" type="body"/>
          </p:nvPr>
        </p:nvSpPr>
        <p:spPr>
          <a:xfrm>
            <a:off x="729325" y="1380475"/>
            <a:ext cx="3774300" cy="2959500"/>
          </a:xfrm>
          <a:prstGeom prst="rect">
            <a:avLst/>
          </a:prstGeom>
        </p:spPr>
        <p:txBody>
          <a:bodyPr anchorCtr="0" anchor="t" bIns="91425" lIns="91425" spcFirstLastPara="1" rIns="91425" wrap="square" tIns="91425">
            <a:normAutofit/>
          </a:bodyPr>
          <a:lstStyle/>
          <a:p>
            <a:pPr indent="-311150" lvl="0" marL="457200" rtl="0" algn="l">
              <a:lnSpc>
                <a:spcPct val="200000"/>
              </a:lnSpc>
              <a:spcBef>
                <a:spcPts val="0"/>
              </a:spcBef>
              <a:spcAft>
                <a:spcPts val="0"/>
              </a:spcAft>
              <a:buSzPts val="1300"/>
              <a:buChar char="●"/>
            </a:pPr>
            <a:r>
              <a:rPr lang="en-GB"/>
              <a:t>Dashboard Features</a:t>
            </a:r>
            <a:endParaRPr/>
          </a:p>
          <a:p>
            <a:pPr indent="-298450" lvl="1" marL="914400" rtl="0" algn="l">
              <a:lnSpc>
                <a:spcPct val="200000"/>
              </a:lnSpc>
              <a:spcBef>
                <a:spcPts val="0"/>
              </a:spcBef>
              <a:spcAft>
                <a:spcPts val="0"/>
              </a:spcAft>
              <a:buSzPts val="1100"/>
              <a:buChar char="○"/>
            </a:pPr>
            <a:r>
              <a:rPr lang="en-GB"/>
              <a:t>Dynamic Filtering</a:t>
            </a:r>
            <a:endParaRPr/>
          </a:p>
          <a:p>
            <a:pPr indent="-298450" lvl="1" marL="914400" rtl="0" algn="l">
              <a:lnSpc>
                <a:spcPct val="200000"/>
              </a:lnSpc>
              <a:spcBef>
                <a:spcPts val="0"/>
              </a:spcBef>
              <a:spcAft>
                <a:spcPts val="0"/>
              </a:spcAft>
              <a:buSzPts val="1100"/>
              <a:buChar char="○"/>
            </a:pPr>
            <a:r>
              <a:rPr lang="en-GB"/>
              <a:t>Drill Through</a:t>
            </a:r>
            <a:endParaRPr/>
          </a:p>
          <a:p>
            <a:pPr indent="-298450" lvl="1" marL="914400" rtl="0" algn="l">
              <a:lnSpc>
                <a:spcPct val="200000"/>
              </a:lnSpc>
              <a:spcBef>
                <a:spcPts val="0"/>
              </a:spcBef>
              <a:spcAft>
                <a:spcPts val="0"/>
              </a:spcAft>
              <a:buSzPts val="1100"/>
              <a:buChar char="○"/>
            </a:pPr>
            <a:r>
              <a:rPr lang="en-GB"/>
              <a:t>KPI Monitoring</a:t>
            </a:r>
            <a:endParaRPr/>
          </a:p>
          <a:p>
            <a:pPr indent="-298450" lvl="1" marL="914400" rtl="0" algn="l">
              <a:lnSpc>
                <a:spcPct val="200000"/>
              </a:lnSpc>
              <a:spcBef>
                <a:spcPts val="0"/>
              </a:spcBef>
              <a:spcAft>
                <a:spcPts val="0"/>
              </a:spcAft>
              <a:buSzPts val="1100"/>
              <a:buChar char="○"/>
            </a:pPr>
            <a:r>
              <a:rPr lang="en-GB"/>
              <a:t>Benchmark Comparison</a:t>
            </a:r>
            <a:endParaRPr/>
          </a:p>
          <a:p>
            <a:pPr indent="-298450" lvl="1" marL="914400" rtl="0" algn="l">
              <a:lnSpc>
                <a:spcPct val="200000"/>
              </a:lnSpc>
              <a:spcBef>
                <a:spcPts val="0"/>
              </a:spcBef>
              <a:spcAft>
                <a:spcPts val="0"/>
              </a:spcAft>
              <a:buSzPts val="1100"/>
              <a:buChar char="○"/>
            </a:pPr>
            <a:r>
              <a:rPr lang="en-GB"/>
              <a:t>Fund Scorecard</a:t>
            </a:r>
            <a:endParaRPr/>
          </a:p>
        </p:txBody>
      </p:sp>
      <p:sp>
        <p:nvSpPr>
          <p:cNvPr id="174" name="Google Shape;174;p21"/>
          <p:cNvSpPr txBox="1"/>
          <p:nvPr>
            <p:ph idx="2" type="body"/>
          </p:nvPr>
        </p:nvSpPr>
        <p:spPr>
          <a:xfrm>
            <a:off x="4643600" y="1450400"/>
            <a:ext cx="3774300" cy="3186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5" name="Google Shape;175;p21"/>
          <p:cNvPicPr preferRelativeResize="0"/>
          <p:nvPr/>
        </p:nvPicPr>
        <p:blipFill>
          <a:blip r:embed="rId3">
            <a:alphaModFix/>
          </a:blip>
          <a:stretch>
            <a:fillRect/>
          </a:stretch>
        </p:blipFill>
        <p:spPr>
          <a:xfrm>
            <a:off x="4961911" y="1272588"/>
            <a:ext cx="3137684" cy="1770550"/>
          </a:xfrm>
          <a:prstGeom prst="rect">
            <a:avLst/>
          </a:prstGeom>
          <a:noFill/>
          <a:ln>
            <a:noFill/>
          </a:ln>
        </p:spPr>
      </p:pic>
      <p:pic>
        <p:nvPicPr>
          <p:cNvPr id="176" name="Google Shape;176;p21"/>
          <p:cNvPicPr preferRelativeResize="0"/>
          <p:nvPr/>
        </p:nvPicPr>
        <p:blipFill>
          <a:blip r:embed="rId4">
            <a:alphaModFix/>
          </a:blip>
          <a:stretch>
            <a:fillRect/>
          </a:stretch>
        </p:blipFill>
        <p:spPr>
          <a:xfrm>
            <a:off x="4961913" y="3190950"/>
            <a:ext cx="3137676" cy="17448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2"/>
          <p:cNvSpPr txBox="1"/>
          <p:nvPr>
            <p:ph type="title"/>
          </p:nvPr>
        </p:nvSpPr>
        <p:spPr>
          <a:xfrm>
            <a:off x="727800" y="62950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Power BI Dashboard – Investors &amp; Market Trends </a:t>
            </a:r>
            <a:endParaRPr/>
          </a:p>
        </p:txBody>
      </p:sp>
      <p:sp>
        <p:nvSpPr>
          <p:cNvPr id="182" name="Google Shape;182;p22"/>
          <p:cNvSpPr txBox="1"/>
          <p:nvPr>
            <p:ph idx="1" type="body"/>
          </p:nvPr>
        </p:nvSpPr>
        <p:spPr>
          <a:xfrm>
            <a:off x="797700" y="1390475"/>
            <a:ext cx="3774300" cy="3525600"/>
          </a:xfrm>
          <a:prstGeom prst="rect">
            <a:avLst/>
          </a:prstGeom>
        </p:spPr>
        <p:txBody>
          <a:bodyPr anchorCtr="0" anchor="t" bIns="91425" lIns="91425" spcFirstLastPara="1" rIns="91425" wrap="square" tIns="91425">
            <a:normAutofit/>
          </a:bodyPr>
          <a:lstStyle/>
          <a:p>
            <a:pPr indent="-311150" lvl="0" marL="457200" rtl="0" algn="l">
              <a:lnSpc>
                <a:spcPct val="200000"/>
              </a:lnSpc>
              <a:spcBef>
                <a:spcPts val="1200"/>
              </a:spcBef>
              <a:spcAft>
                <a:spcPts val="0"/>
              </a:spcAft>
              <a:buSzPts val="1300"/>
              <a:buChar char="●"/>
            </a:pPr>
            <a:r>
              <a:rPr lang="en-GB"/>
              <a:t>Dashboard Features</a:t>
            </a:r>
            <a:endParaRPr/>
          </a:p>
          <a:p>
            <a:pPr indent="-298450" lvl="1" marL="914400" rtl="0" algn="l">
              <a:lnSpc>
                <a:spcPct val="200000"/>
              </a:lnSpc>
              <a:spcBef>
                <a:spcPts val="0"/>
              </a:spcBef>
              <a:spcAft>
                <a:spcPts val="0"/>
              </a:spcAft>
              <a:buSzPts val="1100"/>
              <a:buChar char="○"/>
            </a:pPr>
            <a:r>
              <a:rPr lang="en-GB"/>
              <a:t>Investor Analytics</a:t>
            </a:r>
            <a:endParaRPr/>
          </a:p>
          <a:p>
            <a:pPr indent="-298450" lvl="1" marL="914400" rtl="0" algn="l">
              <a:lnSpc>
                <a:spcPct val="200000"/>
              </a:lnSpc>
              <a:spcBef>
                <a:spcPts val="0"/>
              </a:spcBef>
              <a:spcAft>
                <a:spcPts val="0"/>
              </a:spcAft>
              <a:buSzPts val="1100"/>
              <a:buChar char="○"/>
            </a:pPr>
            <a:r>
              <a:rPr lang="en-GB"/>
              <a:t>SIP Analysis</a:t>
            </a:r>
            <a:endParaRPr/>
          </a:p>
          <a:p>
            <a:pPr indent="-298450" lvl="1" marL="914400" rtl="0" algn="l">
              <a:lnSpc>
                <a:spcPct val="200000"/>
              </a:lnSpc>
              <a:spcBef>
                <a:spcPts val="0"/>
              </a:spcBef>
              <a:spcAft>
                <a:spcPts val="0"/>
              </a:spcAft>
              <a:buSzPts val="1100"/>
              <a:buChar char="○"/>
            </a:pPr>
            <a:r>
              <a:rPr lang="en-GB"/>
              <a:t>Market Trends</a:t>
            </a:r>
            <a:endParaRPr/>
          </a:p>
          <a:p>
            <a:pPr indent="-298450" lvl="1" marL="914400" rtl="0" algn="l">
              <a:lnSpc>
                <a:spcPct val="200000"/>
              </a:lnSpc>
              <a:spcBef>
                <a:spcPts val="0"/>
              </a:spcBef>
              <a:spcAft>
                <a:spcPts val="0"/>
              </a:spcAft>
              <a:buSzPts val="1100"/>
              <a:buChar char="○"/>
            </a:pPr>
            <a:r>
              <a:rPr lang="en-GB"/>
              <a:t>Category Inflows</a:t>
            </a:r>
            <a:endParaRPr/>
          </a:p>
          <a:p>
            <a:pPr indent="-298450" lvl="1" marL="914400" rtl="0" algn="l">
              <a:lnSpc>
                <a:spcPct val="200000"/>
              </a:lnSpc>
              <a:spcBef>
                <a:spcPts val="0"/>
              </a:spcBef>
              <a:spcAft>
                <a:spcPts val="0"/>
              </a:spcAft>
              <a:buSzPts val="1100"/>
              <a:buChar char="○"/>
            </a:pPr>
            <a:r>
              <a:rPr lang="en-GB"/>
              <a:t>Geographic Analysis</a:t>
            </a:r>
            <a:endParaRPr/>
          </a:p>
        </p:txBody>
      </p:sp>
      <p:sp>
        <p:nvSpPr>
          <p:cNvPr id="183" name="Google Shape;183;p22"/>
          <p:cNvSpPr txBox="1"/>
          <p:nvPr>
            <p:ph idx="2" type="body"/>
          </p:nvPr>
        </p:nvSpPr>
        <p:spPr>
          <a:xfrm>
            <a:off x="4643600" y="1390475"/>
            <a:ext cx="3774300" cy="352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4" name="Google Shape;184;p22"/>
          <p:cNvPicPr preferRelativeResize="0"/>
          <p:nvPr/>
        </p:nvPicPr>
        <p:blipFill>
          <a:blip r:embed="rId3">
            <a:alphaModFix/>
          </a:blip>
          <a:stretch>
            <a:fillRect/>
          </a:stretch>
        </p:blipFill>
        <p:spPr>
          <a:xfrm>
            <a:off x="4807903" y="1200725"/>
            <a:ext cx="3115722" cy="1855975"/>
          </a:xfrm>
          <a:prstGeom prst="rect">
            <a:avLst/>
          </a:prstGeom>
          <a:noFill/>
          <a:ln>
            <a:noFill/>
          </a:ln>
        </p:spPr>
      </p:pic>
      <p:pic>
        <p:nvPicPr>
          <p:cNvPr id="185" name="Google Shape;185;p22"/>
          <p:cNvPicPr preferRelativeResize="0"/>
          <p:nvPr/>
        </p:nvPicPr>
        <p:blipFill>
          <a:blip r:embed="rId4">
            <a:alphaModFix/>
          </a:blip>
          <a:stretch>
            <a:fillRect/>
          </a:stretch>
        </p:blipFill>
        <p:spPr>
          <a:xfrm>
            <a:off x="4807900" y="3207625"/>
            <a:ext cx="3322926" cy="1758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729450" y="6295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Findings &amp; Recommendations </a:t>
            </a:r>
            <a:endParaRPr/>
          </a:p>
        </p:txBody>
      </p:sp>
      <p:sp>
        <p:nvSpPr>
          <p:cNvPr id="191" name="Google Shape;191;p23"/>
          <p:cNvSpPr txBox="1"/>
          <p:nvPr>
            <p:ph idx="1" type="body"/>
          </p:nvPr>
        </p:nvSpPr>
        <p:spPr>
          <a:xfrm>
            <a:off x="729450" y="1360500"/>
            <a:ext cx="7688700" cy="33558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GB"/>
              <a:t>Findings</a:t>
            </a:r>
            <a:endParaRPr/>
          </a:p>
          <a:p>
            <a:pPr indent="-298450" lvl="1" marL="914400" rtl="0" algn="l">
              <a:lnSpc>
                <a:spcPct val="150000"/>
              </a:lnSpc>
              <a:spcBef>
                <a:spcPts val="0"/>
              </a:spcBef>
              <a:spcAft>
                <a:spcPts val="0"/>
              </a:spcAft>
              <a:buSzPts val="1100"/>
              <a:buChar char="○"/>
            </a:pPr>
            <a:r>
              <a:rPr lang="en-GB"/>
              <a:t>Industry AUM grew consistently across the study period.</a:t>
            </a:r>
            <a:endParaRPr/>
          </a:p>
          <a:p>
            <a:pPr indent="-298450" lvl="1" marL="914400" rtl="0" algn="l">
              <a:lnSpc>
                <a:spcPct val="150000"/>
              </a:lnSpc>
              <a:spcBef>
                <a:spcPts val="0"/>
              </a:spcBef>
              <a:spcAft>
                <a:spcPts val="0"/>
              </a:spcAft>
              <a:buSzPts val="1100"/>
              <a:buChar char="○"/>
            </a:pPr>
            <a:r>
              <a:rPr lang="en-GB"/>
              <a:t>SIP investments reached record highs.</a:t>
            </a:r>
            <a:endParaRPr/>
          </a:p>
          <a:p>
            <a:pPr indent="-298450" lvl="1" marL="914400" rtl="0" algn="l">
              <a:lnSpc>
                <a:spcPct val="150000"/>
              </a:lnSpc>
              <a:spcBef>
                <a:spcPts val="0"/>
              </a:spcBef>
              <a:spcAft>
                <a:spcPts val="0"/>
              </a:spcAft>
              <a:buSzPts val="1100"/>
              <a:buChar char="○"/>
            </a:pPr>
            <a:r>
              <a:rPr lang="en-GB"/>
              <a:t>Small-cap funds delivered higher returns but higher risk.</a:t>
            </a:r>
            <a:endParaRPr/>
          </a:p>
          <a:p>
            <a:pPr indent="-298450" lvl="1" marL="914400" rtl="0" algn="l">
              <a:lnSpc>
                <a:spcPct val="150000"/>
              </a:lnSpc>
              <a:spcBef>
                <a:spcPts val="0"/>
              </a:spcBef>
              <a:spcAft>
                <a:spcPts val="0"/>
              </a:spcAft>
              <a:buSzPts val="1100"/>
              <a:buChar char="○"/>
            </a:pPr>
            <a:r>
              <a:rPr lang="en-GB"/>
              <a:t>Risk-adjusted metrics provided better evaluation than absolute returns.</a:t>
            </a:r>
            <a:endParaRPr/>
          </a:p>
          <a:p>
            <a:pPr indent="-298450" lvl="1" marL="914400" rtl="0" algn="l">
              <a:lnSpc>
                <a:spcPct val="150000"/>
              </a:lnSpc>
              <a:spcBef>
                <a:spcPts val="0"/>
              </a:spcBef>
              <a:spcAft>
                <a:spcPts val="0"/>
              </a:spcAft>
              <a:buSzPts val="1100"/>
              <a:buChar char="○"/>
            </a:pPr>
            <a:r>
              <a:rPr lang="en-GB"/>
              <a:t>Investor participation expanded beyond metropolitan regions.</a:t>
            </a:r>
            <a:endParaRPr/>
          </a:p>
          <a:p>
            <a:pPr indent="-311150" lvl="0" marL="457200" rtl="0" algn="l">
              <a:lnSpc>
                <a:spcPct val="150000"/>
              </a:lnSpc>
              <a:spcBef>
                <a:spcPts val="0"/>
              </a:spcBef>
              <a:spcAft>
                <a:spcPts val="0"/>
              </a:spcAft>
              <a:buSzPts val="1300"/>
              <a:buChar char="●"/>
            </a:pPr>
            <a:r>
              <a:rPr lang="en-GB"/>
              <a:t>Recommendations</a:t>
            </a:r>
            <a:endParaRPr/>
          </a:p>
          <a:p>
            <a:pPr indent="-298450" lvl="1" marL="914400" rtl="0" algn="l">
              <a:lnSpc>
                <a:spcPct val="150000"/>
              </a:lnSpc>
              <a:spcBef>
                <a:spcPts val="0"/>
              </a:spcBef>
              <a:spcAft>
                <a:spcPts val="0"/>
              </a:spcAft>
              <a:buSzPts val="1100"/>
              <a:buChar char="○"/>
            </a:pPr>
            <a:r>
              <a:rPr lang="en-GB"/>
              <a:t>Focus on risk-adjusted returns</a:t>
            </a:r>
            <a:endParaRPr/>
          </a:p>
          <a:p>
            <a:pPr indent="-298450" lvl="1" marL="914400" rtl="0" algn="l">
              <a:lnSpc>
                <a:spcPct val="150000"/>
              </a:lnSpc>
              <a:spcBef>
                <a:spcPts val="0"/>
              </a:spcBef>
              <a:spcAft>
                <a:spcPts val="0"/>
              </a:spcAft>
              <a:buSzPts val="1100"/>
              <a:buChar char="○"/>
            </a:pPr>
            <a:r>
              <a:rPr lang="en-GB"/>
              <a:t>Encourage long-term SIP investing</a:t>
            </a:r>
            <a:endParaRPr/>
          </a:p>
          <a:p>
            <a:pPr indent="-298450" lvl="1" marL="914400" rtl="0" algn="l">
              <a:lnSpc>
                <a:spcPct val="150000"/>
              </a:lnSpc>
              <a:spcBef>
                <a:spcPts val="0"/>
              </a:spcBef>
              <a:spcAft>
                <a:spcPts val="0"/>
              </a:spcAft>
              <a:buSzPts val="1100"/>
              <a:buChar char="○"/>
            </a:pPr>
            <a:r>
              <a:rPr lang="en-GB"/>
              <a:t>Improve diversification</a:t>
            </a:r>
            <a:endParaRPr/>
          </a:p>
          <a:p>
            <a:pPr indent="-298450" lvl="1" marL="914400" rtl="0" algn="l">
              <a:lnSpc>
                <a:spcPct val="150000"/>
              </a:lnSpc>
              <a:spcBef>
                <a:spcPts val="0"/>
              </a:spcBef>
              <a:spcAft>
                <a:spcPts val="0"/>
              </a:spcAft>
              <a:buSzPts val="1100"/>
              <a:buChar char="○"/>
            </a:pPr>
            <a:r>
              <a:rPr lang="en-GB"/>
              <a:t>Monitor downside risk using VaR and CVaR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ctrTitle"/>
          </p:nvPr>
        </p:nvSpPr>
        <p:spPr>
          <a:xfrm>
            <a:off x="3163350" y="2142300"/>
            <a:ext cx="2817300" cy="85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